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ACME Corp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CCEE"/>
                </a:solidFill>
              </a:defRPr>
            </a:pPr>
            <a:r>
              <a:t>Company Overview &amp; Strategic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CC"/>
                </a:solidFill>
              </a:defRPr>
            </a:pPr>
            <a:r>
              <a:t>Presented by Patricia Graves,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</a:defRPr>
            </a:pPr>
            <a:r>
              <a:t>Board of Directors Meeting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0">
                <a:solidFill>
                  <a:srgbClr val="333333"/>
                </a:solidFill>
              </a:defRPr>
            </a:pPr>
            <a:r>
              <a:t>1.  Company at a Glance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2.  FY 2025 Financial Performance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3.  Product &amp; Innovation Update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4.  Market Position &amp; Growth Strategy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5.  People &amp; Culture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6.  2026 Strategic Priorities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7.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Company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6C1"/>
                </a:solidFill>
              </a:defRPr>
            </a:pPr>
            <a:r>
              <a:t>$172.6M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Revenue</a:t>
            </a:r>
            <a:br/>
            <a:r>
              <a:t>(+23%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6C1"/>
                </a:solidFill>
              </a:defRPr>
            </a:pPr>
            <a:r>
              <a:t>2,412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Employees</a:t>
            </a:r>
            <a:br/>
            <a:r>
              <a:t>Worldwide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6C1"/>
                </a:solidFill>
              </a:defRPr>
            </a:pPr>
            <a:r>
              <a:t>3,200+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Customers in</a:t>
            </a:r>
            <a:br/>
            <a:r>
              <a:t>45 Countries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6C1"/>
                </a:solidFill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Global</a:t>
            </a:r>
            <a:br/>
            <a:r>
              <a:t>Offices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</a:defRPr>
            </a:pPr>
            <a:r>
              <a:t>Founded: 1987  |  Headquarters: Austin, Texas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Core Markets: Manufacturing, Logistics, Healthcare, Financial Services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Products: ACME Platform, ACME Analytics, ACME Connect, ACME Mobile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Recognition: Named to Deloitte Fast 500 for 3 consecutive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FY 2025 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Revenue: $172.6M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+23% year-over-year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Recurring Revenue: $128.4M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74% of total (up from 68%)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Gross Margin: 61.2%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+2.5pp improvement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Operating Income: $29.8M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17.3% operating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Net Income: $24.1M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14.0% net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Free Cash Flow: $31.2M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Strong cash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Revenue by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$98.2M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+28%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Mid-Market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$52.1M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+19%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Professional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$22.3M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+12%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Product &amp; Innovation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</a:defRPr>
            </a:pPr>
            <a:r>
              <a:t>2025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ACME Platform v4.0 launched - major architecture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ACME Analytics 2.0 with real-time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150+ pre-built API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Mobile app beta (iOS &amp; 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4 major releases, 200+ feature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</a:defRPr>
            </a:pPr>
            <a:r>
              <a:t>2026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AI-powered recommendations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Multi-currency &amp; multi-language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Zero-trust security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Mobile GA launch (April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R&amp;D investment: ~$27M (13-14% of revenue)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Market Position &amp;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</a:defRPr>
            </a:pPr>
            <a:r>
              <a:t>Enterprise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Target 60 new enterprise logos in 2026. Increase ACV to $350K through upsell/cross-sell. Dedicated enterprise success team with 1:10 CSM ratio.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</a:defRPr>
            </a:pPr>
            <a:r>
              <a:t>Channel Partner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Scale from 78 to 120 certified partners. Launch partner portal with co-selling tools. Partner-sourced revenue target: 25% of mid-market.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</a:defRPr>
            </a:pPr>
            <a:r>
              <a:t>Geographic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Open Denver office (April 2026, 35 positions). Evaluate APAC expansion opportunity (Singapore). Strengthen European presence through partner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</a:defRPr>
            </a:pPr>
            <a:r>
              <a:t>Platform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Launch ACME Marketplace for third-party integrations. Developer program with API sandbox and documentation. Target: 50 ISV partners by end of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People &amp;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6C1"/>
                </a:solidFill>
              </a:defRPr>
            </a:pPr>
            <a:r>
              <a:t>4.2 /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Employee</a:t>
            </a:r>
            <a:br/>
            <a:r>
              <a:t>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6C1"/>
                </a:solidFill>
              </a:defRPr>
            </a:pPr>
            <a:r>
              <a:t>12.4%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Voluntary</a:t>
            </a:r>
            <a:br/>
            <a:r>
              <a:t>Attrition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6C1"/>
                </a:solidFill>
              </a:defRPr>
            </a:pPr>
            <a:r>
              <a:t>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Diverse</a:t>
            </a:r>
            <a:br/>
            <a:r>
              <a:t>New Hires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6C1"/>
                </a:solidFill>
              </a:defRPr>
            </a:pPr>
            <a:r>
              <a:t>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New Employees</a:t>
            </a:r>
            <a:br/>
            <a:r>
              <a:t>in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1A3C6E"/>
                </a:solidFill>
              </a:defRPr>
            </a:pPr>
            <a:r>
              <a:t>Key Initiatives: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Expanded parental leave to 16 weeks paid for all parents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Launched ACME Leadership Academy - 45 managers enrolled in inaugural cohort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New tuition reimbursement program ($5,000/year per employee)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Internal mobility program launching Q1 2026 - internal job board + mentorship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38% women in leadership roles (target: 42% by end of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2026 Strategic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Accelerate 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</a:defRPr>
            </a:pPr>
            <a:r>
              <a:t>Target 20-25% revenue growth. Scale enterprise sales team. Expand channel partner network to 120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34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Invest in Product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</a:defRPr>
            </a:pPr>
            <a:r>
              <a:t>$27M R&amp;D investment. AI/ML capabilities. Mobile GA launch. Platform marketplace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Strengthen Operational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</a:defRPr>
            </a:pPr>
            <a:r>
              <a:t>Complete cloud migration (est. $1.2M savings). Vendor consolidation. Process automation initiatives.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12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Build World-Class Talent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</a:defRPr>
            </a:pPr>
            <a:r>
              <a:t>Grow to 2,500+ employees. Denver office opening. Internal mobility program. Continued D&amp;I investment.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FY 2026 Financial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Commentary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$207M - $216M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+20% to +25%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62% - 64%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Continued improvement from mix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Operating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17% - 19%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Leverage from scale, offset by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R&amp;D as % of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13% - 14%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Sustained innovation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Free Cash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$35M - $40M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Strong cash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Headcount (EOY)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5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2,500+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Focused hiring in Eng, Sales, 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CCEE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</a:defRPr>
            </a:pPr>
            <a:r>
              <a:t>Patricia Graves  |  patricia.graves@acmecorp.com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</a:defRPr>
            </a:pPr>
            <a:r>
              <a:t>ACME Corp  |  www.acmecorp.com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